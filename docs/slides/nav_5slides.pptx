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C0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 Analytics Pipeline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30 loose queries to a production analytics platform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463040" cy="1828800"/>
          </a:xfrm>
          <a:prstGeom prst="rect">
            <a:avLst/>
          </a:prstGeom>
          <a:solidFill>
            <a:srgbClr val="2A357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4420" y="2057400"/>
            <a:ext cx="411480" cy="411480"/>
          </a:xfrm>
          <a:prstGeom prst="ellipse">
            <a:avLst/>
          </a:prstGeom>
          <a:solidFill>
            <a:srgbClr val="E85C0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148840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606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2.24B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9436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194560" y="1920240"/>
            <a:ext cx="1463040" cy="1828800"/>
          </a:xfrm>
          <a:prstGeom prst="rect">
            <a:avLst/>
          </a:prstGeom>
          <a:solidFill>
            <a:srgbClr val="2A357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20340" y="2057400"/>
            <a:ext cx="411480" cy="411480"/>
          </a:xfrm>
          <a:prstGeom prst="ellipse">
            <a:avLst/>
          </a:prstGeom>
          <a:solidFill>
            <a:srgbClr val="E85C0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208" y="2148840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94560" y="2606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7.26M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224028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840480" y="1920240"/>
            <a:ext cx="1463040" cy="1828800"/>
          </a:xfrm>
          <a:prstGeom prst="rect">
            <a:avLst/>
          </a:prstGeom>
          <a:solidFill>
            <a:srgbClr val="2A357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366260" y="2057400"/>
            <a:ext cx="411480" cy="411480"/>
          </a:xfrm>
          <a:prstGeom prst="ellipse">
            <a:avLst/>
          </a:prstGeom>
          <a:solidFill>
            <a:srgbClr val="E85C0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148840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40480" y="2606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388620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0" y="1920240"/>
            <a:ext cx="1463040" cy="1828800"/>
          </a:xfrm>
          <a:prstGeom prst="rect">
            <a:avLst/>
          </a:prstGeom>
          <a:solidFill>
            <a:srgbClr val="2A357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012180" y="2057400"/>
            <a:ext cx="411480" cy="411480"/>
          </a:xfrm>
          <a:prstGeom prst="ellipse">
            <a:avLst/>
          </a:prstGeom>
          <a:solidFill>
            <a:srgbClr val="E85C0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048" y="2148840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2606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553212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7132320" y="1920240"/>
            <a:ext cx="1463040" cy="1828800"/>
          </a:xfrm>
          <a:prstGeom prst="rect">
            <a:avLst/>
          </a:prstGeom>
          <a:solidFill>
            <a:srgbClr val="2A357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658100" y="2057400"/>
            <a:ext cx="411480" cy="411480"/>
          </a:xfrm>
          <a:prstGeom prst="ellipse">
            <a:avLst/>
          </a:prstGeom>
          <a:solidFill>
            <a:srgbClr val="E85C0D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4968" y="2148840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32320" y="2606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14.5K</a:t>
            </a:r>
            <a:endParaRPr lang="en-US" sz="2200" dirty="0"/>
          </a:p>
        </p:txBody>
      </p:sp>
      <p:sp>
        <p:nvSpPr>
          <p:cNvPr id="29" name="Text 22"/>
          <p:cNvSpPr/>
          <p:nvPr/>
        </p:nvSpPr>
        <p:spPr>
          <a:xfrm>
            <a:off x="717804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40080" y="4023360"/>
            <a:ext cx="3840480" cy="685800"/>
          </a:xfrm>
          <a:prstGeom prst="rect">
            <a:avLst/>
          </a:prstGeom>
          <a:solidFill>
            <a:srgbClr val="2A357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777240" y="40233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unversioned queries, 16 notebooks, manual Excel exports, 3-hour turnaround per client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4663440" y="4023360"/>
            <a:ext cx="3840480" cy="685800"/>
          </a:xfrm>
          <a:prstGeom prst="rect">
            <a:avLst/>
          </a:prstGeom>
          <a:solidFill>
            <a:srgbClr val="2A357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26"/>
          <p:cNvSpPr/>
          <p:nvPr/>
        </p:nvSpPr>
        <p:spPr>
          <a:xfrm>
            <a:off x="4800600" y="40233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Version-controlled pipeline, automated reports, self-service dashboard, 30-second insights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640080" y="4754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Media Network · Prosper Sikhwari ·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C0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medallion architecture on BigQuery (africa-south1)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288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828800" cy="5486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188720"/>
            <a:ext cx="365760" cy="365760"/>
          </a:xfrm>
          <a:prstGeom prst="ellipse">
            <a:avLst/>
          </a:prstGeom>
          <a:solidFill>
            <a:srgbClr val="37415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126187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1856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FNB data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66928" y="21031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transaction_data (2.2B)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base_data (82M)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spend_lookups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580" y="2103120"/>
            <a:ext cx="182880" cy="1828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606040" y="1051560"/>
            <a:ext cx="18288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606040" y="1051560"/>
            <a:ext cx="18288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5" name="Shape 11"/>
          <p:cNvSpPr/>
          <p:nvPr/>
        </p:nvSpPr>
        <p:spPr>
          <a:xfrm>
            <a:off x="3337560" y="1188720"/>
            <a:ext cx="365760" cy="365760"/>
          </a:xfrm>
          <a:prstGeom prst="ellipse">
            <a:avLst/>
          </a:prstGeom>
          <a:solidFill>
            <a:srgbClr val="1E40A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712" y="12618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60604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2606040" y="1856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typed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2715768" y="21031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stg_transactions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stg_customers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partitioned</a:t>
            </a:r>
            <a:endParaRPr lang="en-US" sz="9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3420" y="2103120"/>
            <a:ext cx="182880" cy="18288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4754880" y="1051560"/>
            <a:ext cx="18288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754880" y="1051560"/>
            <a:ext cx="18288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Shape 17"/>
          <p:cNvSpPr/>
          <p:nvPr/>
        </p:nvSpPr>
        <p:spPr>
          <a:xfrm>
            <a:off x="5486400" y="118872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9552" y="1261872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75488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4754880" y="1856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4864608" y="21031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int_customer_category_spend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int_rfm_features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wallet</a:t>
            </a:r>
            <a:endParaRPr lang="en-US" sz="9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2260" y="2103120"/>
            <a:ext cx="182880" cy="18288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6903720" y="1051560"/>
            <a:ext cx="18288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6903720" y="1051560"/>
            <a:ext cx="1828800" cy="54864"/>
          </a:xfrm>
          <a:prstGeom prst="rect">
            <a:avLst/>
          </a:prstGeom>
          <a:solidFill>
            <a:srgbClr val="E85C0D"/>
          </a:solidFill>
          <a:ln/>
        </p:spPr>
      </p:sp>
      <p:sp>
        <p:nvSpPr>
          <p:cNvPr id="31" name="Shape 23"/>
          <p:cNvSpPr/>
          <p:nvPr/>
        </p:nvSpPr>
        <p:spPr>
          <a:xfrm>
            <a:off x="7635240" y="1188720"/>
            <a:ext cx="365760" cy="365760"/>
          </a:xfrm>
          <a:prstGeom prst="ellipse">
            <a:avLst/>
          </a:prstGeom>
          <a:solidFill>
            <a:srgbClr val="E85C0D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8392" y="1261872"/>
            <a:ext cx="219456" cy="21945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90372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Marts</a:t>
            </a:r>
            <a:endParaRPr lang="en-US" sz="1500" dirty="0"/>
          </a:p>
        </p:txBody>
      </p:sp>
      <p:sp>
        <p:nvSpPr>
          <p:cNvPr id="34" name="Text 25"/>
          <p:cNvSpPr/>
          <p:nvPr/>
        </p:nvSpPr>
        <p:spPr>
          <a:xfrm>
            <a:off x="6903720" y="1856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Business-ready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7013448" y="21031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mart tables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Looker views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audiences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457200" y="3520440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457200" y="3520440"/>
            <a:ext cx="54864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29"/>
          <p:cNvSpPr/>
          <p:nvPr/>
        </p:nvSpPr>
        <p:spPr>
          <a:xfrm>
            <a:off x="685800" y="3520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models: 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(5 segments, DB 1.295)  |  Churn logistic regression (83% accuracy, F1 0.556)  |  CLV linear regression (5 tiers)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457200" y="4297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Outputs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1371600" y="4251960"/>
            <a:ext cx="1371600" cy="320040"/>
          </a:xfrm>
          <a:prstGeom prst="rect">
            <a:avLst/>
          </a:prstGeom>
          <a:solidFill>
            <a:srgbClr val="E85C0D"/>
          </a:solidFill>
          <a:ln/>
        </p:spPr>
      </p:sp>
      <p:sp>
        <p:nvSpPr>
          <p:cNvPr id="41" name="Text 32"/>
          <p:cNvSpPr/>
          <p:nvPr/>
        </p:nvSpPr>
        <p:spPr>
          <a:xfrm>
            <a:off x="1371600" y="4251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Dashboard</a:t>
            </a:r>
            <a:endParaRPr lang="en-US" sz="800" dirty="0"/>
          </a:p>
        </p:txBody>
      </p:sp>
      <p:sp>
        <p:nvSpPr>
          <p:cNvPr id="42" name="Shape 33"/>
          <p:cNvSpPr/>
          <p:nvPr/>
        </p:nvSpPr>
        <p:spPr>
          <a:xfrm>
            <a:off x="2926080" y="4251960"/>
            <a:ext cx="137160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3" name="Text 34"/>
          <p:cNvSpPr/>
          <p:nvPr/>
        </p:nvSpPr>
        <p:spPr>
          <a:xfrm>
            <a:off x="2926080" y="4251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 Studio</a:t>
            </a:r>
            <a:endParaRPr lang="en-US" sz="800" dirty="0"/>
          </a:p>
        </p:txBody>
      </p:sp>
      <p:sp>
        <p:nvSpPr>
          <p:cNvPr id="44" name="Shape 35"/>
          <p:cNvSpPr/>
          <p:nvPr/>
        </p:nvSpPr>
        <p:spPr>
          <a:xfrm>
            <a:off x="4480560" y="4251960"/>
            <a:ext cx="137160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5" name="Text 36"/>
          <p:cNvSpPr/>
          <p:nvPr/>
        </p:nvSpPr>
        <p:spPr>
          <a:xfrm>
            <a:off x="4480560" y="4251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Reports</a:t>
            </a:r>
            <a:endParaRPr lang="en-US" sz="800" dirty="0"/>
          </a:p>
        </p:txBody>
      </p:sp>
      <p:sp>
        <p:nvSpPr>
          <p:cNvPr id="46" name="Shape 37"/>
          <p:cNvSpPr/>
          <p:nvPr/>
        </p:nvSpPr>
        <p:spPr>
          <a:xfrm>
            <a:off x="6035040" y="4251960"/>
            <a:ext cx="1371600" cy="320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7" name="Text 38"/>
          <p:cNvSpPr/>
          <p:nvPr/>
        </p:nvSpPr>
        <p:spPr>
          <a:xfrm>
            <a:off x="6035040" y="4251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Catalog</a:t>
            </a:r>
            <a:endParaRPr lang="en-US" sz="800" dirty="0"/>
          </a:p>
        </p:txBody>
      </p:sp>
      <p:sp>
        <p:nvSpPr>
          <p:cNvPr id="48" name="Shape 39"/>
          <p:cNvSpPr/>
          <p:nvPr/>
        </p:nvSpPr>
        <p:spPr>
          <a:xfrm>
            <a:off x="7589520" y="4251960"/>
            <a:ext cx="1371600" cy="32004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49" name="Text 40"/>
          <p:cNvSpPr/>
          <p:nvPr/>
        </p:nvSpPr>
        <p:spPr>
          <a:xfrm>
            <a:off x="7589520" y="4251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</a:t>
            </a:r>
            <a:endParaRPr lang="en-US" sz="800" dirty="0"/>
          </a:p>
        </p:txBody>
      </p:sp>
      <p:sp>
        <p:nvSpPr>
          <p:cNvPr id="50" name="Text 41"/>
          <p:cNvSpPr/>
          <p:nvPr/>
        </p:nvSpPr>
        <p:spPr>
          <a:xfrm>
            <a:off x="640080" y="4754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bash scripts/run.sh sandbox [0-6]  |  All SQL version-controlled in GitHub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C0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delivers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2651760" cy="45720"/>
          </a:xfrm>
          <a:prstGeom prst="rect">
            <a:avLst/>
          </a:prstGeom>
          <a:solidFill>
            <a:srgbClr val="E85C0D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987552"/>
            <a:ext cx="320040" cy="320040"/>
          </a:xfrm>
          <a:prstGeom prst="ellipse">
            <a:avLst/>
          </a:prstGeom>
          <a:solidFill>
            <a:srgbClr val="E85C0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5156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9875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dashboard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13716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6-page HTML with live filters, category/client dropdowns, internal/external anonymisation. Opens in any browser — no server, no CDN.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91840" y="82296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822960"/>
            <a:ext cx="26517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Shape 9"/>
          <p:cNvSpPr/>
          <p:nvPr/>
        </p:nvSpPr>
        <p:spPr>
          <a:xfrm>
            <a:off x="3429000" y="987552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1051560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40480" y="9875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 marketplace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29000" y="13716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pre-built audiences (demographic, behavioural, seasonal, geographic). Click-to-detail modals with demographics, categories, segments.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126480" y="82296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822960"/>
            <a:ext cx="2651760" cy="457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8" name="Shape 14"/>
          <p:cNvSpPr/>
          <p:nvPr/>
        </p:nvSpPr>
        <p:spPr>
          <a:xfrm>
            <a:off x="6263640" y="987552"/>
            <a:ext cx="320040" cy="320040"/>
          </a:xfrm>
          <a:prstGeom prst="ellipse">
            <a:avLst/>
          </a:prstGeom>
          <a:solidFill>
            <a:srgbClr val="1E40A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051560"/>
            <a:ext cx="182880" cy="1828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75120" y="9875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pitch reports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63640" y="13716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HTML reports per client. Competitor benchmarks, store loyalty, time patterns, demographics, geography.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457200" y="278892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57200" y="2788920"/>
            <a:ext cx="265176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Shape 19"/>
          <p:cNvSpPr/>
          <p:nvPr/>
        </p:nvSpPr>
        <p:spPr>
          <a:xfrm>
            <a:off x="594360" y="2953512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017520"/>
            <a:ext cx="182880" cy="1828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05840" y="29535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Looker Studio dashboard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94360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data sources connected. Self-service for dealmakers — filter, drill down, export. No SQL needed.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3291840" y="278892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291840" y="2788920"/>
            <a:ext cx="2651760" cy="4572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30" name="Shape 24"/>
          <p:cNvSpPr/>
          <p:nvPr/>
        </p:nvSpPr>
        <p:spPr>
          <a:xfrm>
            <a:off x="3429000" y="2953512"/>
            <a:ext cx="320040" cy="320040"/>
          </a:xfrm>
          <a:prstGeom prst="ellipse">
            <a:avLst/>
          </a:prstGeom>
          <a:solidFill>
            <a:srgbClr val="374151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3008" y="3017520"/>
            <a:ext cx="182880" cy="1828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840480" y="29535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notebooks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3429000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notebooks for data scientists. RFM analysis, segment profiling, audience building, churn deep-dives. Ready to run in BigQuery.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6126480" y="278892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126480" y="2788920"/>
            <a:ext cx="265176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Shape 29"/>
          <p:cNvSpPr/>
          <p:nvPr/>
        </p:nvSpPr>
        <p:spPr>
          <a:xfrm>
            <a:off x="6263640" y="2953512"/>
            <a:ext cx="320040" cy="32004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3017520"/>
            <a:ext cx="182880" cy="18288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675120" y="29535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audience packs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6263640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audiences for brand briefs (Clicks brands, Cipla). Methodology documented. Activatable via LiveRamp to Meta, Google, TikTok.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640080" y="4754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outputs version-controlled in GitHub · Reproducible with one command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C0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&amp; operational controls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means more than just working 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645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18872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26187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management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" y="1554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groups per role (analyst, viewer, admin)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Dataset-level permissions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ready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POPIA-compliant data handling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105156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051560"/>
            <a:ext cx="54864" cy="1645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Shape 10"/>
          <p:cNvSpPr/>
          <p:nvPr/>
        </p:nvSpPr>
        <p:spPr>
          <a:xfrm>
            <a:off x="4937760" y="1188720"/>
            <a:ext cx="365760" cy="36576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261872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controls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394960" y="1554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spend caps configured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query quotas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Partitioned tables reduce scan costs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R1/day refresh vs R350 full scan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57200" y="288036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2880360"/>
            <a:ext cx="54864" cy="16459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9" name="Shape 15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1E40A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090672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97280" y="3017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Self-service analytics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097280" y="33832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 Studio for dealmakers (no SQL)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notebooks for data scientists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dashboard for executives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guides for every skill level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754880" y="288036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54880" y="2880360"/>
            <a:ext cx="54864" cy="1645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Shape 20"/>
          <p:cNvSpPr/>
          <p:nvPr/>
        </p:nvSpPr>
        <p:spPr>
          <a:xfrm>
            <a:off x="4937760" y="301752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3090672"/>
            <a:ext cx="219456" cy="21945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94960" y="3017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transfer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5394960" y="33832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Looker build guide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audience building guide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 with every column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BQ gotchas documentation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640080" y="4754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surprise BigQuery bills · No more uncontrolled access · No more tribal knowledge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C0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delivered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1325880"/>
          </a:xfrm>
          <a:prstGeom prst="rect">
            <a:avLst/>
          </a:prstGeom>
          <a:solidFill>
            <a:srgbClr val="2A357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R31.6B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at risk identified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666K critical+high churn customers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37560" y="914400"/>
            <a:ext cx="2651760" cy="1325880"/>
          </a:xfrm>
          <a:prstGeom prst="rect">
            <a:avLst/>
          </a:prstGeom>
          <a:solidFill>
            <a:srgbClr val="2A357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005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5C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hrs → 30s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74720" y="15087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to insight time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manual SQL to one dropdown change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17920" y="914400"/>
            <a:ext cx="2651760" cy="1325880"/>
          </a:xfrm>
          <a:prstGeom prst="rect">
            <a:avLst/>
          </a:prstGeom>
          <a:solidFill>
            <a:srgbClr val="2A357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005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355080" y="15087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 accuracy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on 15 features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2651760" cy="1325880"/>
          </a:xfrm>
          <a:prstGeom prst="rect">
            <a:avLst/>
          </a:prstGeom>
          <a:solidFill>
            <a:srgbClr val="2A357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514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94360" y="30175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Activatable audiences built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Demographic, behavioural, seasonal, geographic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37560" y="2423160"/>
            <a:ext cx="2651760" cy="1325880"/>
          </a:xfrm>
          <a:prstGeom prst="rect">
            <a:avLst/>
          </a:prstGeom>
          <a:solidFill>
            <a:srgbClr val="2A357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37560" y="2514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R1/day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474720" y="30175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refresh cost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from ~R350 per ad-hoc query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2423160"/>
            <a:ext cx="2651760" cy="1325880"/>
          </a:xfrm>
          <a:prstGeom prst="rect">
            <a:avLst/>
          </a:prstGeom>
          <a:solidFill>
            <a:srgbClr val="2A357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2514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355080" y="30175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on a single person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Guides, docs, notebooks for the whole team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2A357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023360"/>
            <a:ext cx="54864" cy="731520"/>
          </a:xfrm>
          <a:prstGeom prst="rect">
            <a:avLst/>
          </a:prstGeom>
          <a:solidFill>
            <a:srgbClr val="E85C0D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0233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Lookalike modelling  ·  LiveRamp activation  ·  Incremental pipeline loads  ·  Dataform migration  ·  Production deployment (fmn-production)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8463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Prosper Sikhwari · Data &amp; Media Network · First Advertising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 Analytics — Technical Overview</dc:title>
  <dc:subject>PptxGenJS Presentation</dc:subject>
  <dc:creator>Prosper Sikhwari</dc:creator>
  <cp:lastModifiedBy>Prosper Sikhwari</cp:lastModifiedBy>
  <cp:revision>1</cp:revision>
  <dcterms:created xsi:type="dcterms:W3CDTF">2026-04-08T03:30:25Z</dcterms:created>
  <dcterms:modified xsi:type="dcterms:W3CDTF">2026-04-08T03:30:25Z</dcterms:modified>
</cp:coreProperties>
</file>