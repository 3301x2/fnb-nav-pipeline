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 Analytics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— what was built, how it works, and what it delivers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508760" cy="17373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3172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4140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2.24B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94560" y="2194560"/>
            <a:ext cx="1508760" cy="17373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233172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24140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7.26M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240280" y="3246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886200" y="2194560"/>
            <a:ext cx="1508760" cy="17373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89120" y="233172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4140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8620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3931920" y="3246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577840" y="2194560"/>
            <a:ext cx="1508760" cy="17373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80760" y="233172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41401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5623560" y="3246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activatable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269480" y="2194560"/>
            <a:ext cx="1508760" cy="17373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0" y="2331720"/>
            <a:ext cx="457200" cy="45720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241401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6948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14.5K</a:t>
            </a:r>
            <a:endParaRPr lang="en-US" sz="2400" dirty="0"/>
          </a:p>
        </p:txBody>
      </p:sp>
      <p:sp>
        <p:nvSpPr>
          <p:cNvPr id="29" name="Text 22"/>
          <p:cNvSpPr/>
          <p:nvPr/>
        </p:nvSpPr>
        <p:spPr>
          <a:xfrm>
            <a:off x="7315200" y="3246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4008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Media Network · Prosper Sikhwari · April 2026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environment before the pipeline was built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65836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704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ad-hoc queries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Unversioned SQL scripts scattered across notebooks and shared drives. No single source of truth.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1755648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755648"/>
            <a:ext cx="54864" cy="65836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1801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unmanaged notebooks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0584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notebooks with overlapping logic. Different analysts getting different numbers from the same data.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57200" y="250545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505456"/>
            <a:ext cx="54864" cy="65836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700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551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Excel exports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0" y="2798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run manually, results pasted into Excel, emailed around. 3+ hours per client pitch.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57200" y="3255264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255264"/>
            <a:ext cx="54864" cy="65836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1985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cost controls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scans on 2.2B rows costing hundreds of rands per query. No spend caps, no monitoring.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57200" y="4005072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" y="4005072"/>
            <a:ext cx="54864" cy="65836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6966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4050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Semi-manual uploads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0584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into storage buckets required manual steps. No automation, error-prone, no audit trail.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754880" y="100584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1005840"/>
            <a:ext cx="54864" cy="65836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17043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0352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Version-controlled SQL pipeline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30352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pipeline in GitHub. One command rebuilds everything. Reproducible, auditable.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4754880" y="1755648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54880" y="1755648"/>
            <a:ext cx="54864" cy="65836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92024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03520" y="1801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Consolidated mart layer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30352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mart tables with one definition each. Single source of truth for every metric.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4754880" y="250545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754880" y="2505456"/>
            <a:ext cx="54864" cy="65836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670048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303520" y="2551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One-command reports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5303520" y="2798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generate_report.py --client CLICKS. HTML report in 30 seconds. Self-service dashboard for all.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4754880" y="3255264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4754880" y="3255264"/>
            <a:ext cx="54864" cy="65836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419856"/>
            <a:ext cx="274320" cy="27432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30352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caps &amp; partitioning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530352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spend caps, per-user quotas, date-partitioned tables. R1/day refresh vs R350 full scan.</a:t>
            </a:r>
            <a:endParaRPr lang="en-US" sz="850" dirty="0"/>
          </a:p>
        </p:txBody>
      </p:sp>
      <p:sp>
        <p:nvSpPr>
          <p:cNvPr id="50" name="Shape 39"/>
          <p:cNvSpPr/>
          <p:nvPr/>
        </p:nvSpPr>
        <p:spPr>
          <a:xfrm>
            <a:off x="4754880" y="4005072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4754880" y="4005072"/>
            <a:ext cx="54864" cy="65836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169664"/>
            <a:ext cx="274320" cy="27432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303520" y="4050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bucket uploads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530352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ingestion pipelines. Validated, logged, repeatable. No manual copy-paste steps.</a:t>
            </a:r>
            <a:endParaRPr lang="en-US" sz="850" dirty="0"/>
          </a:p>
        </p:txBody>
      </p:sp>
      <p:sp>
        <p:nvSpPr>
          <p:cNvPr id="55" name="Text 43"/>
          <p:cNvSpPr/>
          <p:nvPr/>
        </p:nvSpPr>
        <p:spPr>
          <a:xfrm>
            <a:off x="64008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pain point addressed with a production-grade solution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on BigQuery (africa-south1) · Orchestrated via bash scripts/run.sh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143000"/>
            <a:ext cx="365760" cy="365760"/>
          </a:xfrm>
          <a:prstGeom prst="ellipse">
            <a:avLst/>
          </a:prstGeom>
          <a:solidFill>
            <a:srgbClr val="37415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557" y="1208837"/>
            <a:ext cx="234086" cy="2340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FNB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" y="2011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transaction_data (2.2B)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base_data (82M)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spend_lookups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580" y="201168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06040" y="100584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06040" y="1005840"/>
            <a:ext cx="18288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Shape 11"/>
          <p:cNvSpPr/>
          <p:nvPr/>
        </p:nvSpPr>
        <p:spPr>
          <a:xfrm>
            <a:off x="3337560" y="114300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397" y="1208837"/>
            <a:ext cx="234086" cy="2340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0604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60604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typed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715768" y="2011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stg_transactions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stg_customers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partitioned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01168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100584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1005840"/>
            <a:ext cx="18288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17"/>
          <p:cNvSpPr/>
          <p:nvPr/>
        </p:nvSpPr>
        <p:spPr>
          <a:xfrm>
            <a:off x="5486400" y="11430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2237" y="1208837"/>
            <a:ext cx="234086" cy="23408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5488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75488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864608" y="2011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int_customer_category_spend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int_rfm_features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wallet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212M rows</a:t>
            </a:r>
            <a:endParaRPr lang="en-US" sz="9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2011680"/>
            <a:ext cx="182880" cy="18288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903720" y="100584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903720" y="1005840"/>
            <a:ext cx="1828800" cy="4572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1" name="Shape 23"/>
          <p:cNvSpPr/>
          <p:nvPr/>
        </p:nvSpPr>
        <p:spPr>
          <a:xfrm>
            <a:off x="7635240" y="1143000"/>
            <a:ext cx="365760" cy="36576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1077" y="1208837"/>
            <a:ext cx="234086" cy="23408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0372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Marts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69037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7013448" y="2011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mart tables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Looker views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audiences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scores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57200" y="342900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Shape 29"/>
          <p:cNvSpPr/>
          <p:nvPr/>
        </p:nvSpPr>
        <p:spPr>
          <a:xfrm>
            <a:off x="640080" y="35204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7" y="3578047"/>
            <a:ext cx="204826" cy="20482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5156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ingestion: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bucket uploads scripted and validated. Source files → GCS → BigQuery external tables → staging layer.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4754880" y="342900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4754880" y="342900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Shape 33"/>
          <p:cNvSpPr/>
          <p:nvPr/>
        </p:nvSpPr>
        <p:spPr>
          <a:xfrm>
            <a:off x="4937760" y="352044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5367" y="3578047"/>
            <a:ext cx="204826" cy="20482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34924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layer: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(5 clusters) · Churn logistic (83%) · CLV linear (5 tiers). All BigQuery ML — no external infra.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457200" y="4251960"/>
            <a:ext cx="1554480" cy="27432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47" name="Text 36"/>
          <p:cNvSpPr/>
          <p:nvPr/>
        </p:nvSpPr>
        <p:spPr>
          <a:xfrm>
            <a:off x="457200" y="4251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</a:t>
            </a:r>
            <a:endParaRPr lang="en-US" sz="800" dirty="0"/>
          </a:p>
        </p:txBody>
      </p:sp>
      <p:sp>
        <p:nvSpPr>
          <p:cNvPr id="48" name="Shape 37"/>
          <p:cNvSpPr/>
          <p:nvPr/>
        </p:nvSpPr>
        <p:spPr>
          <a:xfrm>
            <a:off x="2148840" y="4251960"/>
            <a:ext cx="1554480" cy="2743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9" name="Text 38"/>
          <p:cNvSpPr/>
          <p:nvPr/>
        </p:nvSpPr>
        <p:spPr>
          <a:xfrm>
            <a:off x="2148840" y="4251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800" dirty="0"/>
          </a:p>
        </p:txBody>
      </p:sp>
      <p:sp>
        <p:nvSpPr>
          <p:cNvPr id="50" name="Shape 39"/>
          <p:cNvSpPr/>
          <p:nvPr/>
        </p:nvSpPr>
        <p:spPr>
          <a:xfrm>
            <a:off x="3840480" y="4251960"/>
            <a:ext cx="15544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Text 40"/>
          <p:cNvSpPr/>
          <p:nvPr/>
        </p:nvSpPr>
        <p:spPr>
          <a:xfrm>
            <a:off x="3840480" y="4251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Reports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5532120" y="4251960"/>
            <a:ext cx="155448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3" name="Text 42"/>
          <p:cNvSpPr/>
          <p:nvPr/>
        </p:nvSpPr>
        <p:spPr>
          <a:xfrm>
            <a:off x="5532120" y="4251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7223760" y="4251960"/>
            <a:ext cx="1554480" cy="274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5" name="Text 44"/>
          <p:cNvSpPr/>
          <p:nvPr/>
        </p:nvSpPr>
        <p:spPr>
          <a:xfrm>
            <a:off x="7223760" y="4251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800" dirty="0"/>
          </a:p>
        </p:txBody>
      </p:sp>
      <p:sp>
        <p:nvSpPr>
          <p:cNvPr id="56" name="Text 45"/>
          <p:cNvSpPr/>
          <p:nvPr/>
        </p:nvSpPr>
        <p:spPr>
          <a:xfrm>
            <a:off x="64008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version-controlled in GitHub · Pipeline: bash scripts/run.sh sandbox [0-6]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built entirely in BigQuery ML — no external infrastructure required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143000"/>
            <a:ext cx="365760" cy="36576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037" y="1208837"/>
            <a:ext cx="234086" cy="2340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057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features: recency, frequency, spend, merchant diversity, category count, weekend %, active months, weekday txns, weekend txns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segments: Champions (8.2%), Loyal High Value (14.8%), Steady Mid-Tier (30.1%), At Risk (19.9%), Dormant (27%)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520" y="3840480"/>
            <a:ext cx="2103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Davies-Bouldin: 1.295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2.0 = well separated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337560" y="100584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7560" y="1005840"/>
            <a:ext cx="265176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5"/>
          <p:cNvSpPr/>
          <p:nvPr/>
        </p:nvSpPr>
        <p:spPr>
          <a:xfrm>
            <a:off x="4480560" y="11430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397" y="1208837"/>
            <a:ext cx="234086" cy="2340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756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prediction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33756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474720" y="2057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features: recency, frequency, spend trends, merchant diversity change, category changes, weekend pattern shifts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(0-1) bucketed into: Critical, High, Medium, Low, Stable. 666K at Critical+High risk = R31.6B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11880" y="3840480"/>
            <a:ext cx="2103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1"/>
          <p:cNvSpPr/>
          <p:nvPr/>
        </p:nvSpPr>
        <p:spPr>
          <a:xfrm>
            <a:off x="361188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Accuracy: 83.1%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611880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0.556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217920" y="100584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9" name="Shape 25"/>
          <p:cNvSpPr/>
          <p:nvPr/>
        </p:nvSpPr>
        <p:spPr>
          <a:xfrm>
            <a:off x="7360920" y="114300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757" y="1208837"/>
            <a:ext cx="234086" cy="23408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1792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lifetime value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21792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355080" y="2057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historical spending features: total spend, frequency, recency, merchant count, avg basket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35508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6-month future spend. 5 tiers: Platinum, Gold, Silver, Bronze, Basic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492240" y="3840480"/>
            <a:ext cx="210312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1"/>
          <p:cNvSpPr/>
          <p:nvPr/>
        </p:nvSpPr>
        <p:spPr>
          <a:xfrm>
            <a:off x="649224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value tiers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492240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 with churn for priority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64008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and served inside BigQuery ML · No Python runtime, no GPU, no external dependencies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 — dashboards &amp; reports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5029200" cy="4572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960120"/>
            <a:ext cx="365760" cy="36576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1025957"/>
            <a:ext cx="234086" cy="2340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HTML dashboard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3716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pages: Overview, Client Pitch, Segments, Churn &amp; CLV, Categories, Audiences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client dropdowns filter all charts live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Internal/external toggle anonymises competitor names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default shows holistic view before drill-down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marketplace with click-to-detail modals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embedded offline — no CDN, works on any machine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with First Advertising logo and colours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777240"/>
            <a:ext cx="301752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777240"/>
            <a:ext cx="301752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Shape 9"/>
          <p:cNvSpPr/>
          <p:nvPr/>
        </p:nvSpPr>
        <p:spPr>
          <a:xfrm>
            <a:off x="5806440" y="9144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047" y="972007"/>
            <a:ext cx="204826" cy="2048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0" y="822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Looker Studio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217920" y="1069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data sources connected. Self-service for dealmakers. Filter, drill, export CSV. No SQL required.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669280" y="1572768"/>
            <a:ext cx="301752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0" y="1572768"/>
            <a:ext cx="30175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4"/>
          <p:cNvSpPr/>
          <p:nvPr/>
        </p:nvSpPr>
        <p:spPr>
          <a:xfrm>
            <a:off x="5806440" y="1709928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047" y="1767535"/>
            <a:ext cx="204826" cy="2048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1618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pitch reports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17920" y="18653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per client. Benchmarks, loyalty, time patterns, demographics. HTML, works offline.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669280" y="2368296"/>
            <a:ext cx="301752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69280" y="2368296"/>
            <a:ext cx="3017520" cy="457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4" name="Shape 19"/>
          <p:cNvSpPr/>
          <p:nvPr/>
        </p:nvSpPr>
        <p:spPr>
          <a:xfrm>
            <a:off x="5806440" y="2505456"/>
            <a:ext cx="320040" cy="320040"/>
          </a:xfrm>
          <a:prstGeom prst="ellipse">
            <a:avLst/>
          </a:prstGeom>
          <a:solidFill>
            <a:srgbClr val="37415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047" y="2563063"/>
            <a:ext cx="204826" cy="20482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17920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notebooks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217920" y="2660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for data scientists. RFM, segments, audiences, churn. Reusable Python + SQL.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" y="3246120"/>
            <a:ext cx="822960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Shape 24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7" y="3494837"/>
            <a:ext cx="234086" cy="23408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marketplace &amp; brand packs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640080" y="3840480"/>
            <a:ext cx="1188720" cy="228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4" name="Text 27"/>
          <p:cNvSpPr/>
          <p:nvPr/>
        </p:nvSpPr>
        <p:spPr>
          <a:xfrm>
            <a:off x="64008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1965960" y="3840480"/>
            <a:ext cx="118872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29"/>
          <p:cNvSpPr/>
          <p:nvPr/>
        </p:nvSpPr>
        <p:spPr>
          <a:xfrm>
            <a:off x="196596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3291840" y="3840480"/>
            <a:ext cx="1188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1"/>
          <p:cNvSpPr/>
          <p:nvPr/>
        </p:nvSpPr>
        <p:spPr>
          <a:xfrm>
            <a:off x="329184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4617720" y="3840480"/>
            <a:ext cx="11887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3"/>
          <p:cNvSpPr/>
          <p:nvPr/>
        </p:nvSpPr>
        <p:spPr>
          <a:xfrm>
            <a:off x="461772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5943600" y="3840480"/>
            <a:ext cx="1188720" cy="2286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2" name="Text 35"/>
          <p:cNvSpPr/>
          <p:nvPr/>
        </p:nvSpPr>
        <p:spPr>
          <a:xfrm>
            <a:off x="594360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7269480" y="3840480"/>
            <a:ext cx="118872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37"/>
          <p:cNvSpPr/>
          <p:nvPr/>
        </p:nvSpPr>
        <p:spPr>
          <a:xfrm>
            <a:off x="7269480" y="3840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pre-built audiences activatable via LiveRamp → Meta, Google, TikTok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proxy packs delivered: Clicks (Revlon, Eucerin, Vital, Cantu) + Cipla pitch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audience: real customer counts, demographics, co-shopping, segments, use cases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64008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generated from the same mart layer · Change data once, all outputs update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operations &amp; cost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960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1025957"/>
            <a:ext cx="234086" cy="2340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data ingestion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1371600" cy="82296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drops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169164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40280" y="1417320"/>
            <a:ext cx="13716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0"/>
          <p:cNvSpPr/>
          <p:nvPr/>
        </p:nvSpPr>
        <p:spPr>
          <a:xfrm>
            <a:off x="224028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2402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upload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691640"/>
            <a:ext cx="164592" cy="1645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840480" y="1417320"/>
            <a:ext cx="13716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3"/>
          <p:cNvSpPr/>
          <p:nvPr/>
        </p:nvSpPr>
        <p:spPr>
          <a:xfrm>
            <a:off x="384048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8404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quality checks</a:t>
            </a:r>
            <a:endParaRPr lang="en-US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1691640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40680" y="1417320"/>
            <a:ext cx="1371600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2" name="Text 16"/>
          <p:cNvSpPr/>
          <p:nvPr/>
        </p:nvSpPr>
        <p:spPr>
          <a:xfrm>
            <a:off x="544068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406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→ staging</a:t>
            </a:r>
            <a:endParaRPr lang="en-US" sz="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1691640"/>
            <a:ext cx="164592" cy="16459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040880" y="1417320"/>
            <a:ext cx="1371600" cy="82296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26" name="Text 19"/>
          <p:cNvSpPr/>
          <p:nvPr/>
        </p:nvSpPr>
        <p:spPr>
          <a:xfrm>
            <a:off x="704088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0408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run.sh triggers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640080" y="2286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Previously: semi-manual process with copy-paste uploads, no validation, no logging. Now: scripted, validated, auditable.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57200" y="278892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7200" y="2788920"/>
            <a:ext cx="54864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Shape 24"/>
          <p:cNvSpPr/>
          <p:nvPr/>
        </p:nvSpPr>
        <p:spPr>
          <a:xfrm>
            <a:off x="594360" y="3017520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" y="3075127"/>
            <a:ext cx="204826" cy="20482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05840" y="2862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BigQuery spend caps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0584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and per-user daily query limits configured. Prevents runaway costs from unfiltered full-table scans.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3657600" y="28620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set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278892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54880" y="27889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Shape 30"/>
          <p:cNvSpPr/>
          <p:nvPr/>
        </p:nvSpPr>
        <p:spPr>
          <a:xfrm>
            <a:off x="4892040" y="30175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9647" y="3075127"/>
            <a:ext cx="204826" cy="20482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03520" y="2862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 strategy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30352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stg_transactions partitioned by month. Queries with date filters scan 1/12th of data. R30 vs R350.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7955280" y="28620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12x savings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457200" y="388620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457200" y="3886200"/>
            <a:ext cx="54864" cy="91440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45" name="Shape 36"/>
          <p:cNvSpPr/>
          <p:nvPr/>
        </p:nvSpPr>
        <p:spPr>
          <a:xfrm>
            <a:off x="594360" y="4114800"/>
            <a:ext cx="320040" cy="32004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" y="4172407"/>
            <a:ext cx="204826" cy="204826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1005840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Mart-first querying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1005840" y="4187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query pre-aggregated marts (&lt; R1) instead of raw transactions (R350). Guides document which table to use.</a:t>
            </a:r>
            <a:endParaRPr lang="en-US" sz="800" dirty="0"/>
          </a:p>
        </p:txBody>
      </p:sp>
      <p:sp>
        <p:nvSpPr>
          <p:cNvPr id="49" name="Text 39"/>
          <p:cNvSpPr/>
          <p:nvPr/>
        </p:nvSpPr>
        <p:spPr>
          <a:xfrm>
            <a:off x="3657600" y="3959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350x cheaper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4754880" y="388620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4754880" y="38862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Shape 42"/>
          <p:cNvSpPr/>
          <p:nvPr/>
        </p:nvSpPr>
        <p:spPr>
          <a:xfrm>
            <a:off x="4892040" y="411480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9647" y="4172407"/>
            <a:ext cx="204826" cy="20482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303520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55" name="Text 44"/>
          <p:cNvSpPr/>
          <p:nvPr/>
        </p:nvSpPr>
        <p:spPr>
          <a:xfrm>
            <a:off x="5303520" y="4187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costs tracked per user. Dashboard generation costs documented. Team trained on cost-aware querying.</a:t>
            </a:r>
            <a:endParaRPr lang="en-US" sz="800" dirty="0"/>
          </a:p>
        </p:txBody>
      </p:sp>
      <p:sp>
        <p:nvSpPr>
          <p:cNvPr id="56" name="Text 45"/>
          <p:cNvSpPr/>
          <p:nvPr/>
        </p:nvSpPr>
        <p:spPr>
          <a:xfrm>
            <a:off x="7955280" y="3959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visibility</a:t>
            </a:r>
            <a:endParaRPr lang="en-US" sz="1000" dirty="0"/>
          </a:p>
        </p:txBody>
      </p:sp>
      <p:sp>
        <p:nvSpPr>
          <p:cNvPr id="57" name="Text 46"/>
          <p:cNvSpPr/>
          <p:nvPr/>
        </p:nvSpPr>
        <p:spPr>
          <a:xfrm>
            <a:off x="64008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Cost-conscious by design · No more surprise bills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knowledge transfer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designed to be operated, not just built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1208837"/>
            <a:ext cx="234086" cy="2340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management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groups configured per role: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Admins: full pipeline + mart access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Analysts: mart read + notebook execution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Viewers: Looker Studio + dashboard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Dataset-level permissions · Row-level security ready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POPIA-compliant — no PII exposed in any output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Shape 10"/>
          <p:cNvSpPr/>
          <p:nvPr/>
        </p:nvSpPr>
        <p:spPr>
          <a:xfrm>
            <a:off x="4937760" y="114300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597" y="1208837"/>
            <a:ext cx="234086" cy="2340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by skill level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1554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Executives: HTML dashboard (open a file)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Dealmakers: Looker Studio (filter + export)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Analysts: Pre-built notebooks (run cells)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scientists: Full mart access + SQL templates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has documented guides tailored to skill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7200" y="2560320"/>
            <a:ext cx="8229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560320"/>
            <a:ext cx="82296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2763317"/>
            <a:ext cx="234086" cy="2340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created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0080" y="31546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926080" y="31546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297680" y="315468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40080" y="34015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guide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926080" y="34015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team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297680" y="340156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table, SQL + Python, BQ gotchas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40080" y="3401568"/>
            <a:ext cx="77724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364845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build guide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926080" y="364845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analyst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297680" y="364845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30-step guide with exact field names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40080" y="3648456"/>
            <a:ext cx="77724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389534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audience guide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2926080" y="389534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analyst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297680" y="389534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walkthrough for proxy audiences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40080" y="3895344"/>
            <a:ext cx="77724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414223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calculate everything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2926080" y="414223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4297680" y="414223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metric explanations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640080" y="4142232"/>
            <a:ext cx="77724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0080" y="438912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 + meeting prep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2926080" y="43891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levels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297680" y="438912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flow, cost ref, Q&amp;A prep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640080" y="4389120"/>
            <a:ext cx="77724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008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tribal knowledge · Any team member can operate, extend, or debug the platform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51760" cy="10515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R31.6B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at risk identified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822960"/>
            <a:ext cx="2651760" cy="10515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896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hrs → 30s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 insight time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2651760" cy="10515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896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accuracy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2651760" cy="10515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1305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Activatable audiences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2057400"/>
            <a:ext cx="2651760" cy="10515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1305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R1/day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refresh cost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057400"/>
            <a:ext cx="2651760" cy="105156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1305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0936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Single-person dependencies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2651760" cy="77724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03320"/>
            <a:ext cx="2651760" cy="4572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modelling · LiveRamp activation · Looker Studio completion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37560" y="3703320"/>
            <a:ext cx="2651760" cy="77724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37560" y="3703320"/>
            <a:ext cx="265176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quarter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loads · Dataform migration · fmn-production deployment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3703320"/>
            <a:ext cx="2651760" cy="77724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703320"/>
            <a:ext cx="265176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749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· Campaign measurement (exposed vs control) · API layer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Prosper Sikhwari · Data &amp; Media Network · First Advertising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 Analytics — Technical Deep Dive</dc:title>
  <dc:subject>PptxGenJS Presentation</dc:subject>
  <dc:creator>Prosper Sikhwari</dc:creator>
  <cp:lastModifiedBy>Prosper Sikhwari</cp:lastModifiedBy>
  <cp:revision>1</cp:revision>
  <dcterms:created xsi:type="dcterms:W3CDTF">2026-04-08T03:39:51Z</dcterms:created>
  <dcterms:modified xsi:type="dcterms:W3CDTF">2026-04-08T03:39:51Z</dcterms:modified>
</cp:coreProperties>
</file>